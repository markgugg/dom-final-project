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5C842"/>
                </a:solidFill>
                <a:latin typeface="Courier New"/>
              </a:rPr>
              <a:t>SCRIPTOR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566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A8E7E"/>
                </a:solidFill>
                <a:latin typeface="Raleway"/>
              </a:rPr>
              <a:t>A Programming Language Written Like a Movie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251960"/>
            <a:ext cx="1216152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8E7E"/>
                </a:solidFill>
                <a:latin typeface="Raleway"/>
              </a:rPr>
              <a:t>CS 420  —  Programming Languages  |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ourier New"/>
              </a:rPr>
              <a:t>"Every valid Scriptor program reads like a short film."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5C842"/>
                </a:solidFill>
                <a:latin typeface="Courier New"/>
              </a:rPr>
              <a:t>Purpose, Philosophy &amp; Why I Created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C842"/>
                </a:solidFill>
                <a:latin typeface="Courier New"/>
              </a:rPr>
              <a:t>"The compiler is the audience."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F5C842"/>
                </a:solidFill>
                <a:latin typeface="Raleway"/>
              </a:rPr>
              <a:t>▶  </a:t>
            </a:r>
            <a:r>
              <a:rPr sz="1200">
                <a:solidFill>
                  <a:srgbClr val="E8DCC8"/>
                </a:solidFill>
                <a:latin typeface="Raleway"/>
              </a:rPr>
              <a:t>Scriptor is a general-purpose interpreted language where all syntax mirrors Hollywood screenplay format.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F5C842"/>
                </a:solidFill>
                <a:latin typeface="Raleway"/>
              </a:rPr>
              <a:t>▶  </a:t>
            </a:r>
            <a:r>
              <a:rPr sz="1200">
                <a:solidFill>
                  <a:srgbClr val="E8DCC8"/>
                </a:solidFill>
                <a:latin typeface="Raleway"/>
              </a:rPr>
              <a:t>Variables are characters, functions are scenes, loops are montages, conditionals are meanwhile cuts.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F5C842"/>
                </a:solidFill>
                <a:latin typeface="Raleway"/>
              </a:rPr>
              <a:t>▶  </a:t>
            </a:r>
            <a:r>
              <a:rPr sz="1200">
                <a:solidFill>
                  <a:srgbClr val="E8DCC8"/>
                </a:solidFill>
                <a:latin typeface="Raleway"/>
              </a:rPr>
              <a:t>Most languages are designed for machines — Scriptor is designed to be read like a story.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F5C842"/>
                </a:solidFill>
                <a:latin typeface="Raleway"/>
              </a:rPr>
              <a:t>▶  </a:t>
            </a:r>
            <a:r>
              <a:rPr sz="1200">
                <a:solidFill>
                  <a:srgbClr val="E8DCC8"/>
                </a:solidFill>
                <a:latin typeface="Raleway"/>
              </a:rPr>
              <a:t>Screenplay format is universally understood structured writing. Can syntax carry meaning beyond its logic?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F5C842"/>
                </a:solidFill>
                <a:latin typeface="Raleway"/>
              </a:rPr>
              <a:t>▶  </a:t>
            </a:r>
            <a:r>
              <a:rPr sz="1200">
                <a:solidFill>
                  <a:srgbClr val="E8DCC8"/>
                </a:solidFill>
                <a:latin typeface="Raleway"/>
              </a:rPr>
              <a:t>Result: every program is simultaneously valid code and readable narrative. No semicolons, no braces — just write the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5C842"/>
                </a:solidFill>
                <a:latin typeface="Courier New"/>
              </a:rPr>
              <a:t>Language Style &amp;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SCENE / CUT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371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Function definition /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06372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CHARACTER ... 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19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Variable declaration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3844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SAYS  /  SHOUTS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665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print stdout  /  print stderr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01316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140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MEANWHILE / OTHERWISE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140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if  /  else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8788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MONTAGE...FROM...TO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614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for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96260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DIRECTOR'S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108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main() — entry 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43732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564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OPENING CREDITS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456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global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91204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0390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PLOT TWIST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8039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try / catch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38676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5137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842"/>
                </a:solidFill>
                <a:latin typeface="Courier New"/>
              </a:rPr>
              <a:t>RETURN  /  FADE OUT.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1513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DCC8"/>
                </a:solidFill>
                <a:latin typeface="Raleway"/>
              </a:rPr>
              <a:t>return value  /  end program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6148"/>
            <a:ext cx="777240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C842"/>
                </a:solidFill>
                <a:latin typeface="Courier New"/>
              </a:rPr>
              <a:t>Roles (Types)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1828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Courier New"/>
              </a:rPr>
              <a:t>HERO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8E7E"/>
                </a:solidFill>
                <a:latin typeface="Raleway"/>
              </a:rPr>
              <a:t>int / float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CF8E"/>
                </a:solidFill>
                <a:latin typeface="Courier New"/>
              </a:rPr>
              <a:t>42, 3.14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163572"/>
            <a:ext cx="338328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Courier New"/>
              </a:rPr>
              <a:t>NARRATOR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194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8E7E"/>
                </a:solidFill>
                <a:latin typeface="Raleway"/>
              </a:rPr>
              <a:t>string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2194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CF8E"/>
                </a:solidFill>
                <a:latin typeface="Courier New"/>
              </a:rPr>
              <a:t>"Hello"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2529332"/>
            <a:ext cx="338328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2560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Courier New"/>
              </a:rPr>
              <a:t>VILLAIN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8E7E"/>
                </a:solidFill>
                <a:latin typeface="Raleway"/>
              </a:rPr>
              <a:t>boolean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CF8E"/>
                </a:solidFill>
                <a:latin typeface="Courier New"/>
              </a:rPr>
              <a:t>VILLAIN_TRUE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895092"/>
            <a:ext cx="338328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Courier New"/>
              </a:rPr>
              <a:t>EXTRA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8E7E"/>
                </a:solidFill>
                <a:latin typeface="Raleway"/>
              </a:rPr>
              <a:t>null / void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CF8E"/>
                </a:solidFill>
                <a:latin typeface="Courier New"/>
              </a:rPr>
              <a:t>(empty)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3260852"/>
            <a:ext cx="3383280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3429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8E7E"/>
                </a:solidFill>
                <a:latin typeface="Raleway"/>
              </a:rPr>
              <a:t>Indentation defines scope — no braces needed.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3931920"/>
            <a:ext cx="3474720" cy="2697480"/>
          </a:xfrm>
          <a:prstGeom prst="rect">
            <a:avLst/>
          </a:prstGeom>
          <a:solidFill>
            <a:srgbClr val="14141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SCRIPT:</a:t>
            </a:r>
            <a:r>
              <a:rPr sz="1000">
                <a:solidFill>
                  <a:srgbClr val="E8DCC8"/>
                </a:solidFill>
                <a:latin typeface="Courier New"/>
              </a:rPr>
              <a:t> My Film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OPENING CREDITS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00">
                <a:solidFill>
                  <a:srgbClr val="E8DCC8"/>
                </a:solidFill>
                <a:latin typeface="Courier New"/>
              </a:rPr>
              <a:t> x </a:t>
            </a:r>
            <a:r>
              <a:rPr sz="1000">
                <a:solidFill>
                  <a:srgbClr val="F5C842"/>
                </a:solidFill>
                <a:latin typeface="Courier New"/>
              </a:rPr>
              <a:t>AS</a:t>
            </a:r>
            <a:r>
              <a:rPr sz="1000">
                <a:solidFill>
                  <a:srgbClr val="89B4FA"/>
                </a:solidFill>
                <a:latin typeface="Courier New"/>
              </a:rPr>
              <a:t> HERO</a:t>
            </a:r>
            <a:r>
              <a:rPr sz="1000">
                <a:solidFill>
                  <a:srgbClr val="E8DCC8"/>
                </a:solidFill>
                <a:latin typeface="Courier New"/>
              </a:rPr>
              <a:t> = </a:t>
            </a:r>
            <a:r>
              <a:rPr sz="1000">
                <a:solidFill>
                  <a:srgbClr val="FAB387"/>
                </a:solidFill>
                <a:latin typeface="Courier New"/>
              </a:rPr>
              <a:t>42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SCENE:</a:t>
            </a:r>
            <a:r>
              <a:rPr sz="1000">
                <a:solidFill>
                  <a:srgbClr val="E8DCC8"/>
                </a:solidFill>
                <a:latin typeface="Courier New"/>
              </a:rPr>
              <a:t> Act1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8DCC8"/>
                </a:solidFill>
                <a:latin typeface="Courier New"/>
              </a:rPr>
              <a:t>  x </a:t>
            </a:r>
            <a:r>
              <a:rPr sz="1000">
                <a:solidFill>
                  <a:srgbClr val="F5C842"/>
                </a:solidFill>
                <a:latin typeface="Courier New"/>
              </a:rPr>
              <a:t>SAYS 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DIRECTOR'S CUT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CUT TO</a:t>
            </a:r>
            <a:r>
              <a:rPr sz="1000">
                <a:solidFill>
                  <a:srgbClr val="E8DCC8"/>
                </a:solidFill>
                <a:latin typeface="Courier New"/>
              </a:rPr>
              <a:t> Act1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FADE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C842"/>
                </a:solidFill>
                <a:latin typeface="Courier New"/>
              </a:rPr>
              <a:t>Simple Programs — Hello World  ·  Simple Math  ·  Personal Greeting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hello_world.scp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3840480" cy="1920240"/>
          </a:xfrm>
          <a:prstGeom prst="rect">
            <a:avLst/>
          </a:prstGeom>
          <a:solidFill>
            <a:srgbClr val="14141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SCRIPT:</a:t>
            </a:r>
            <a:r>
              <a:rPr sz="1000">
                <a:solidFill>
                  <a:srgbClr val="E8DCC8"/>
                </a:solidFill>
                <a:latin typeface="Courier New"/>
              </a:rPr>
              <a:t> Hello World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DIRECTOR'S CUT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00">
                <a:solidFill>
                  <a:srgbClr val="E8DCC8"/>
                </a:solidFill>
                <a:latin typeface="Courier New"/>
              </a:rPr>
              <a:t> lead </a:t>
            </a:r>
            <a:r>
              <a:rPr sz="1000">
                <a:solidFill>
                  <a:srgbClr val="F5C842"/>
                </a:solidFill>
                <a:latin typeface="Courier New"/>
              </a:rPr>
              <a:t>AS</a:t>
            </a:r>
            <a:r>
              <a:rPr sz="1000">
                <a:solidFill>
                  <a:srgbClr val="89B4FA"/>
                </a:solidFill>
                <a:latin typeface="Courier New"/>
              </a:rPr>
              <a:t> NARRATOR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8DCC8"/>
                </a:solidFill>
                <a:latin typeface="Courier New"/>
              </a:rPr>
              <a:t>    = </a:t>
            </a:r>
            <a:r>
              <a:rPr sz="1000">
                <a:solidFill>
                  <a:srgbClr val="7ECF8E"/>
                </a:solidFill>
                <a:latin typeface="Courier New"/>
              </a:rPr>
              <a:t>"Hello World!"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8DCC8"/>
                </a:solidFill>
                <a:latin typeface="Courier New"/>
              </a:rPr>
              <a:t>  lead </a:t>
            </a:r>
            <a:r>
              <a:rPr sz="1000">
                <a:solidFill>
                  <a:srgbClr val="F5C842"/>
                </a:solidFill>
                <a:latin typeface="Courier New"/>
              </a:rPr>
              <a:t>SAYS 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FADE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math.scp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64208"/>
            <a:ext cx="3840480" cy="1920240"/>
          </a:xfrm>
          <a:prstGeom prst="rect">
            <a:avLst/>
          </a:prstGeom>
          <a:solidFill>
            <a:srgbClr val="14141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SCRIPT:</a:t>
            </a:r>
            <a:r>
              <a:rPr sz="1000">
                <a:solidFill>
                  <a:srgbClr val="E8DCC8"/>
                </a:solidFill>
                <a:latin typeface="Courier New"/>
              </a:rPr>
              <a:t> Simple Math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DIRECTOR'S CUT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00">
                <a:solidFill>
                  <a:srgbClr val="E8DCC8"/>
                </a:solidFill>
                <a:latin typeface="Courier New"/>
              </a:rPr>
              <a:t> a     </a:t>
            </a:r>
            <a:r>
              <a:rPr sz="1000">
                <a:solidFill>
                  <a:srgbClr val="F5C842"/>
                </a:solidFill>
                <a:latin typeface="Courier New"/>
              </a:rPr>
              <a:t>AS</a:t>
            </a:r>
            <a:r>
              <a:rPr sz="1000">
                <a:solidFill>
                  <a:srgbClr val="89B4FA"/>
                </a:solidFill>
                <a:latin typeface="Courier New"/>
              </a:rPr>
              <a:t> HERO</a:t>
            </a:r>
            <a:r>
              <a:rPr sz="1000">
                <a:solidFill>
                  <a:srgbClr val="E8DCC8"/>
                </a:solidFill>
                <a:latin typeface="Courier New"/>
              </a:rPr>
              <a:t> = </a:t>
            </a:r>
            <a:r>
              <a:rPr sz="1000">
                <a:solidFill>
                  <a:srgbClr val="FAB387"/>
                </a:solidFill>
                <a:latin typeface="Courier New"/>
              </a:rPr>
              <a:t>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00">
                <a:solidFill>
                  <a:srgbClr val="E8DCC8"/>
                </a:solidFill>
                <a:latin typeface="Courier New"/>
              </a:rPr>
              <a:t> b     </a:t>
            </a:r>
            <a:r>
              <a:rPr sz="1000">
                <a:solidFill>
                  <a:srgbClr val="F5C842"/>
                </a:solidFill>
                <a:latin typeface="Courier New"/>
              </a:rPr>
              <a:t>AS</a:t>
            </a:r>
            <a:r>
              <a:rPr sz="1000">
                <a:solidFill>
                  <a:srgbClr val="89B4FA"/>
                </a:solidFill>
                <a:latin typeface="Courier New"/>
              </a:rPr>
              <a:t> HERO</a:t>
            </a:r>
            <a:r>
              <a:rPr sz="1000">
                <a:solidFill>
                  <a:srgbClr val="E8DCC8"/>
                </a:solidFill>
                <a:latin typeface="Courier New"/>
              </a:rPr>
              <a:t> = </a:t>
            </a:r>
            <a:r>
              <a:rPr sz="1000">
                <a:solidFill>
                  <a:srgbClr val="FAB387"/>
                </a:solidFill>
                <a:latin typeface="Courier New"/>
              </a:rPr>
              <a:t>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00">
                <a:solidFill>
                  <a:srgbClr val="E8DCC8"/>
                </a:solidFill>
                <a:latin typeface="Courier New"/>
              </a:rPr>
              <a:t> total </a:t>
            </a:r>
            <a:r>
              <a:rPr sz="1000">
                <a:solidFill>
                  <a:srgbClr val="F5C842"/>
                </a:solidFill>
                <a:latin typeface="Courier New"/>
              </a:rPr>
              <a:t>AS</a:t>
            </a:r>
            <a:r>
              <a:rPr sz="1000">
                <a:solidFill>
                  <a:srgbClr val="89B4FA"/>
                </a:solidFill>
                <a:latin typeface="Courier New"/>
              </a:rPr>
              <a:t> HERO</a:t>
            </a:r>
            <a:r>
              <a:rPr sz="1000">
                <a:solidFill>
                  <a:srgbClr val="E8DCC8"/>
                </a:solidFill>
                <a:latin typeface="Courier New"/>
              </a:rPr>
              <a:t> = a + 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SAYS</a:t>
            </a:r>
            <a:r>
              <a:rPr sz="1000">
                <a:solidFill>
                  <a:srgbClr val="7ECF8E"/>
                </a:solidFill>
                <a:latin typeface="Courier New"/>
              </a:rPr>
              <a:t> "Sum:"</a:t>
            </a:r>
            <a:r>
              <a:rPr sz="1000">
                <a:solidFill>
                  <a:srgbClr val="E8DCC8"/>
                </a:solidFill>
                <a:latin typeface="Courier New"/>
              </a:rPr>
              <a:t>  total </a:t>
            </a:r>
            <a:r>
              <a:rPr sz="1000">
                <a:solidFill>
                  <a:srgbClr val="F5C842"/>
                </a:solidFill>
                <a:latin typeface="Courier New"/>
              </a:rPr>
              <a:t>SAYS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greeting.scp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664208"/>
            <a:ext cx="3657600" cy="2377440"/>
          </a:xfrm>
          <a:prstGeom prst="rect">
            <a:avLst/>
          </a:prstGeom>
          <a:solidFill>
            <a:srgbClr val="14141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SCRIPT:</a:t>
            </a:r>
            <a:r>
              <a:rPr sz="1000">
                <a:solidFill>
                  <a:srgbClr val="E8DCC8"/>
                </a:solidFill>
                <a:latin typeface="Courier New"/>
              </a:rPr>
              <a:t> Personal Greeting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SCENE:</a:t>
            </a:r>
            <a:r>
              <a:rPr sz="1000">
                <a:solidFill>
                  <a:srgbClr val="E8DCC8"/>
                </a:solidFill>
                <a:latin typeface="Courier New"/>
              </a:rPr>
              <a:t> Greet (</a:t>
            </a:r>
            <a:r>
              <a:rPr sz="1000">
                <a:solidFill>
                  <a:srgbClr val="F5C842"/>
                </a:solidFill>
                <a:latin typeface="Courier New"/>
              </a:rPr>
              <a:t>CAST:</a:t>
            </a:r>
            <a:r>
              <a:rPr sz="1000">
                <a:solidFill>
                  <a:srgbClr val="E8DCC8"/>
                </a:solidFill>
                <a:latin typeface="Courier New"/>
              </a:rPr>
              <a:t> name </a:t>
            </a:r>
            <a:r>
              <a:rPr sz="1000">
                <a:solidFill>
                  <a:srgbClr val="F5C842"/>
                </a:solidFill>
                <a:latin typeface="Courier New"/>
              </a:rPr>
              <a:t>AS</a:t>
            </a:r>
            <a:r>
              <a:rPr sz="1000">
                <a:solidFill>
                  <a:srgbClr val="89B4FA"/>
                </a:solidFill>
                <a:latin typeface="Courier New"/>
              </a:rPr>
              <a:t> NARRATOR</a:t>
            </a:r>
            <a:r>
              <a:rPr sz="1000">
                <a:solidFill>
                  <a:srgbClr val="E8DCC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SAYS</a:t>
            </a:r>
            <a:r>
              <a:rPr sz="1000">
                <a:solidFill>
                  <a:srgbClr val="7ECF8E"/>
                </a:solidFill>
                <a:latin typeface="Courier New"/>
              </a:rPr>
              <a:t> "Welcome,"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8DCC8"/>
                </a:solidFill>
                <a:latin typeface="Courier New"/>
              </a:rPr>
              <a:t>  name </a:t>
            </a:r>
            <a:r>
              <a:rPr sz="1000">
                <a:solidFill>
                  <a:srgbClr val="F5C842"/>
                </a:solidFill>
                <a:latin typeface="Courier New"/>
              </a:rPr>
              <a:t>SAYS 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DIRECTOR'S CUT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00">
                <a:solidFill>
                  <a:srgbClr val="E8DCC8"/>
                </a:solidFill>
                <a:latin typeface="Courier New"/>
              </a:rPr>
              <a:t> guest </a:t>
            </a:r>
            <a:r>
              <a:rPr sz="1000">
                <a:solidFill>
                  <a:srgbClr val="F5C842"/>
                </a:solidFill>
                <a:latin typeface="Courier New"/>
              </a:rPr>
              <a:t>AS</a:t>
            </a:r>
            <a:r>
              <a:rPr sz="1000">
                <a:solidFill>
                  <a:srgbClr val="89B4FA"/>
                </a:solidFill>
                <a:latin typeface="Courier New"/>
              </a:rPr>
              <a:t> NARRATOR</a:t>
            </a:r>
            <a:r>
              <a:rPr sz="1000">
                <a:solidFill>
                  <a:srgbClr val="E8DCC8"/>
                </a:solidFill>
                <a:latin typeface="Courier New"/>
              </a:rPr>
              <a:t> = </a:t>
            </a:r>
            <a:r>
              <a:rPr sz="1000">
                <a:solidFill>
                  <a:srgbClr val="7ECF8E"/>
                </a:solidFill>
                <a:latin typeface="Courier New"/>
              </a:rPr>
              <a:t>"Alice"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  CUT TO</a:t>
            </a:r>
            <a:r>
              <a:rPr sz="1000">
                <a:solidFill>
                  <a:srgbClr val="E8DCC8"/>
                </a:solidFill>
                <a:latin typeface="Courier New"/>
              </a:rPr>
              <a:t> Greet(guest)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5C842"/>
                </a:solidFill>
                <a:latin typeface="Courier New"/>
              </a:rPr>
              <a:t>FADE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03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C842"/>
                </a:solidFill>
                <a:latin typeface="Courier New"/>
              </a:rPr>
              <a:t>How They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114800"/>
            <a:ext cx="11612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800">
                <a:solidFill>
                  <a:srgbClr val="F5C842"/>
                </a:solidFill>
                <a:latin typeface="Raleway"/>
              </a:rPr>
              <a:t>▶  </a:t>
            </a:r>
            <a:r>
              <a:rPr sz="1100">
                <a:solidFill>
                  <a:srgbClr val="E8DCC8"/>
                </a:solidFill>
                <a:latin typeface="Raleway"/>
              </a:rPr>
              <a:t>Hello World: Declares a NARRATOR variable and uses SAYS LINE to print it with its name label.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800">
                <a:solidFill>
                  <a:srgbClr val="F5C842"/>
                </a:solidFill>
                <a:latin typeface="Raleway"/>
              </a:rPr>
              <a:t>▶  </a:t>
            </a:r>
            <a:r>
              <a:rPr sz="1100">
                <a:solidFill>
                  <a:srgbClr val="E8DCC8"/>
                </a:solidFill>
                <a:latin typeface="Raleway"/>
              </a:rPr>
              <a:t>Simple Math: HERO variables hold numbers; arithmetic expressions evaluate at declaration. SAYS prints bare strings.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800">
                <a:solidFill>
                  <a:srgbClr val="F5C842"/>
                </a:solidFill>
                <a:latin typeface="Raleway"/>
              </a:rPr>
              <a:t>▶  </a:t>
            </a:r>
            <a:r>
              <a:rPr sz="1100">
                <a:solidFill>
                  <a:srgbClr val="E8DCC8"/>
                </a:solidFill>
                <a:latin typeface="Raleway"/>
              </a:rPr>
              <a:t>Personal Greeting: SCENE defines a function; CAST: declares parameters; CUT TO calls it with arguments.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5C842"/>
                </a:solidFill>
                <a:latin typeface="Courier New"/>
              </a:rPr>
              <a:t>Programs — The Countdown  ·  The Audition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countdown.scp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5669280" cy="3474720"/>
          </a:xfrm>
          <a:prstGeom prst="rect">
            <a:avLst/>
          </a:prstGeom>
          <a:solidFill>
            <a:srgbClr val="14141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SCRIPT:</a:t>
            </a:r>
            <a:r>
              <a:rPr sz="1100">
                <a:solidFill>
                  <a:srgbClr val="E8DCC8"/>
                </a:solidFill>
                <a:latin typeface="Courier New"/>
              </a:rPr>
              <a:t> The Countdown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OPENING CREDITS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100">
                <a:solidFill>
                  <a:srgbClr val="E8DCC8"/>
                </a:solidFill>
                <a:latin typeface="Courier New"/>
              </a:rPr>
              <a:t> count </a:t>
            </a:r>
            <a:r>
              <a:rPr sz="1100">
                <a:solidFill>
                  <a:srgbClr val="F5C842"/>
                </a:solidFill>
                <a:latin typeface="Courier New"/>
              </a:rPr>
              <a:t>AS</a:t>
            </a:r>
            <a:r>
              <a:rPr sz="1100">
                <a:solidFill>
                  <a:srgbClr val="89B4FA"/>
                </a:solidFill>
                <a:latin typeface="Courier New"/>
              </a:rPr>
              <a:t> HERO</a:t>
            </a:r>
            <a:r>
              <a:rPr sz="1100">
                <a:solidFill>
                  <a:srgbClr val="E8DCC8"/>
                </a:solidFill>
                <a:latin typeface="Courier New"/>
              </a:rPr>
              <a:t> = </a:t>
            </a:r>
            <a:r>
              <a:rPr sz="1100">
                <a:solidFill>
                  <a:srgbClr val="FAB387"/>
                </a:solidFill>
                <a:latin typeface="Courier New"/>
              </a:rPr>
              <a:t>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SCENE:</a:t>
            </a:r>
            <a:r>
              <a:rPr sz="1100">
                <a:solidFill>
                  <a:srgbClr val="E8DCC8"/>
                </a:solidFill>
                <a:latin typeface="Courier New"/>
              </a:rPr>
              <a:t> Launch Sequence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MONTAGE</a:t>
            </a:r>
            <a:r>
              <a:rPr sz="1100">
                <a:solidFill>
                  <a:srgbClr val="E8DCC8"/>
                </a:solidFill>
                <a:latin typeface="Courier New"/>
              </a:rPr>
              <a:t> count </a:t>
            </a:r>
            <a:r>
              <a:rPr sz="1100">
                <a:solidFill>
                  <a:srgbClr val="F5C842"/>
                </a:solidFill>
                <a:latin typeface="Courier New"/>
              </a:rPr>
              <a:t>FROM</a:t>
            </a:r>
            <a:r>
              <a:rPr sz="1100">
                <a:solidFill>
                  <a:srgbClr val="E8DCC8"/>
                </a:solidFill>
                <a:latin typeface="Courier New"/>
              </a:rPr>
              <a:t> 10 </a:t>
            </a:r>
            <a:r>
              <a:rPr sz="1100">
                <a:solidFill>
                  <a:srgbClr val="F5C842"/>
                </a:solidFill>
                <a:latin typeface="Courier New"/>
              </a:rPr>
              <a:t>TO</a:t>
            </a:r>
            <a:r>
              <a:rPr sz="1100">
                <a:solidFill>
                  <a:srgbClr val="FAB387"/>
                </a:solidFill>
                <a:latin typeface="Courier New"/>
              </a:rPr>
              <a:t>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  SAYS</a:t>
            </a:r>
            <a:r>
              <a:rPr sz="1100">
                <a:solidFill>
                  <a:srgbClr val="E8DCC8"/>
                </a:solidFill>
                <a:latin typeface="Courier New"/>
              </a:rPr>
              <a:t> count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END MONTAGE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SHOUTS</a:t>
            </a:r>
            <a:r>
              <a:rPr sz="1100">
                <a:solidFill>
                  <a:srgbClr val="7ECF8E"/>
                </a:solidFill>
                <a:latin typeface="Courier New"/>
              </a:rPr>
              <a:t> "We have liftoff!"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DIRECTOR'S CUT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CUT TO</a:t>
            </a:r>
            <a:r>
              <a:rPr sz="1100">
                <a:solidFill>
                  <a:srgbClr val="E8DCC8"/>
                </a:solidFill>
                <a:latin typeface="Courier New"/>
              </a:rPr>
              <a:t> Launch Sequence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FADE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audition.scp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64208"/>
            <a:ext cx="5577840" cy="3108960"/>
          </a:xfrm>
          <a:prstGeom prst="rect">
            <a:avLst/>
          </a:prstGeom>
          <a:solidFill>
            <a:srgbClr val="14141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SCRIPT:</a:t>
            </a:r>
            <a:r>
              <a:rPr sz="1100">
                <a:solidFill>
                  <a:srgbClr val="E8DCC8"/>
                </a:solidFill>
                <a:latin typeface="Courier New"/>
              </a:rPr>
              <a:t> The Audition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SCENE:</a:t>
            </a:r>
            <a:r>
              <a:rPr sz="1100">
                <a:solidFill>
                  <a:srgbClr val="E8DCC8"/>
                </a:solidFill>
                <a:latin typeface="Courier New"/>
              </a:rPr>
              <a:t> Audition (</a:t>
            </a:r>
            <a:r>
              <a:rPr sz="1100">
                <a:solidFill>
                  <a:srgbClr val="F5C842"/>
                </a:solidFill>
                <a:latin typeface="Courier New"/>
              </a:rPr>
              <a:t>CAST:</a:t>
            </a:r>
            <a:r>
              <a:rPr sz="1100">
                <a:solidFill>
                  <a:srgbClr val="E8DCC8"/>
                </a:solidFill>
                <a:latin typeface="Courier New"/>
              </a:rPr>
              <a:t> score </a:t>
            </a:r>
            <a:r>
              <a:rPr sz="1100">
                <a:solidFill>
                  <a:srgbClr val="F5C842"/>
                </a:solidFill>
                <a:latin typeface="Courier New"/>
              </a:rPr>
              <a:t>AS</a:t>
            </a:r>
            <a:r>
              <a:rPr sz="1100">
                <a:solidFill>
                  <a:srgbClr val="89B4FA"/>
                </a:solidFill>
                <a:latin typeface="Courier New"/>
              </a:rPr>
              <a:t> HERO</a:t>
            </a:r>
            <a:r>
              <a:rPr sz="1100">
                <a:solidFill>
                  <a:srgbClr val="E8DCC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MEANWHILE</a:t>
            </a:r>
            <a:r>
              <a:rPr sz="1100">
                <a:solidFill>
                  <a:srgbClr val="E8DCC8"/>
                </a:solidFill>
                <a:latin typeface="Courier New"/>
              </a:rPr>
              <a:t> score &gt;= </a:t>
            </a:r>
            <a:r>
              <a:rPr sz="1100">
                <a:solidFill>
                  <a:srgbClr val="FAB387"/>
                </a:solidFill>
                <a:latin typeface="Courier New"/>
              </a:rPr>
              <a:t>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  SAYS</a:t>
            </a:r>
            <a:r>
              <a:rPr sz="1100">
                <a:solidFill>
                  <a:srgbClr val="7ECF8E"/>
                </a:solidFill>
                <a:latin typeface="Courier New"/>
              </a:rPr>
              <a:t> "You got the part."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OTHERWISE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  SAYS</a:t>
            </a:r>
            <a:r>
              <a:rPr sz="1100">
                <a:solidFill>
                  <a:srgbClr val="7ECF8E"/>
                </a:solidFill>
                <a:latin typeface="Courier New"/>
              </a:rPr>
              <a:t> "Better luck next time."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DIRECTOR'S CUT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100">
                <a:solidFill>
                  <a:srgbClr val="E8DCC8"/>
                </a:solidFill>
                <a:latin typeface="Courier New"/>
              </a:rPr>
              <a:t> applicant </a:t>
            </a:r>
            <a:r>
              <a:rPr sz="1100">
                <a:solidFill>
                  <a:srgbClr val="F5C842"/>
                </a:solidFill>
                <a:latin typeface="Courier New"/>
              </a:rPr>
              <a:t>AS</a:t>
            </a:r>
            <a:r>
              <a:rPr sz="1100">
                <a:solidFill>
                  <a:srgbClr val="89B4FA"/>
                </a:solidFill>
                <a:latin typeface="Courier New"/>
              </a:rPr>
              <a:t> HERO</a:t>
            </a:r>
            <a:r>
              <a:rPr sz="1100">
                <a:solidFill>
                  <a:srgbClr val="E8DCC8"/>
                </a:solidFill>
                <a:latin typeface="Courier New"/>
              </a:rPr>
              <a:t> = </a:t>
            </a:r>
            <a:r>
              <a:rPr sz="1100">
                <a:solidFill>
                  <a:srgbClr val="FAB387"/>
                </a:solidFill>
                <a:latin typeface="Courier New"/>
              </a:rPr>
              <a:t>92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  CUT TO</a:t>
            </a:r>
            <a:r>
              <a:rPr sz="1100">
                <a:solidFill>
                  <a:srgbClr val="E8DCC8"/>
                </a:solidFill>
                <a:latin typeface="Courier New"/>
              </a:rPr>
              <a:t> Audition(applicant)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C842"/>
                </a:solidFill>
                <a:latin typeface="Courier New"/>
              </a:rPr>
              <a:t>FADE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25780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800">
                <a:solidFill>
                  <a:srgbClr val="F5C842"/>
                </a:solidFill>
                <a:latin typeface="Raleway"/>
              </a:rPr>
              <a:t>▶  </a:t>
            </a:r>
            <a:r>
              <a:rPr sz="1100">
                <a:solidFill>
                  <a:srgbClr val="E8DCC8"/>
                </a:solidFill>
                <a:latin typeface="Raleway"/>
              </a:rPr>
              <a:t>Countdown: OPENING CREDITS = global scope. MONTAGE FROM 10 TO 1 auto-decrements. SHOUTS writes to stderr: !! ... !!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800">
                <a:solidFill>
                  <a:srgbClr val="F5C842"/>
                </a:solidFill>
                <a:latin typeface="Raleway"/>
              </a:rPr>
              <a:t>▶  </a:t>
            </a:r>
            <a:r>
              <a:rPr sz="1100">
                <a:solidFill>
                  <a:srgbClr val="E8DCC8"/>
                </a:solidFill>
                <a:latin typeface="Raleway"/>
              </a:rPr>
              <a:t>Audition: MEANWHILE is if, OTHERWISE is else. Indentation defines branches. With score=92 → "You got the part."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5C842"/>
                </a:solidFill>
                <a:latin typeface="Courier New"/>
              </a:rPr>
              <a:t>FizzBuzz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760720" cy="5212080"/>
          </a:xfrm>
          <a:prstGeom prst="rect">
            <a:avLst/>
          </a:prstGeom>
          <a:solidFill>
            <a:srgbClr val="14141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SCRIPT:</a:t>
            </a:r>
            <a:r>
              <a:rPr sz="1050">
                <a:solidFill>
                  <a:srgbClr val="E8DCC8"/>
                </a:solidFill>
                <a:latin typeface="Courier New"/>
              </a:rPr>
              <a:t> FizzBuzz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OPENING CREDITS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50">
                <a:solidFill>
                  <a:srgbClr val="E8DCC8"/>
                </a:solidFill>
                <a:latin typeface="Courier New"/>
              </a:rPr>
              <a:t> limit </a:t>
            </a:r>
            <a:r>
              <a:rPr sz="1050">
                <a:solidFill>
                  <a:srgbClr val="F5C842"/>
                </a:solidFill>
                <a:latin typeface="Courier New"/>
              </a:rPr>
              <a:t>AS</a:t>
            </a:r>
            <a:r>
              <a:rPr sz="1050">
                <a:solidFill>
                  <a:srgbClr val="89B4FA"/>
                </a:solidFill>
                <a:latin typeface="Courier New"/>
              </a:rPr>
              <a:t> HERO</a:t>
            </a:r>
            <a:r>
              <a:rPr sz="1050">
                <a:solidFill>
                  <a:srgbClr val="E8DCC8"/>
                </a:solidFill>
                <a:latin typeface="Courier New"/>
              </a:rPr>
              <a:t> = </a:t>
            </a:r>
            <a:r>
              <a:rPr sz="1050">
                <a:solidFill>
                  <a:srgbClr val="FAB387"/>
                </a:solidFill>
                <a:latin typeface="Courier New"/>
              </a:rPr>
              <a:t>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SCENE:</a:t>
            </a:r>
            <a:r>
              <a:rPr sz="1050">
                <a:solidFill>
                  <a:srgbClr val="E8DCC8"/>
                </a:solidFill>
                <a:latin typeface="Courier New"/>
              </a:rPr>
              <a:t> CheckFizzBuzz (</a:t>
            </a:r>
            <a:r>
              <a:rPr sz="1050">
                <a:solidFill>
                  <a:srgbClr val="F5C842"/>
                </a:solidFill>
                <a:latin typeface="Courier New"/>
              </a:rPr>
              <a:t>CAST:</a:t>
            </a:r>
            <a:r>
              <a:rPr sz="1050">
                <a:solidFill>
                  <a:srgbClr val="E8DCC8"/>
                </a:solidFill>
                <a:latin typeface="Courier New"/>
              </a:rPr>
              <a:t> n </a:t>
            </a:r>
            <a:r>
              <a:rPr sz="1050">
                <a:solidFill>
                  <a:srgbClr val="F5C842"/>
                </a:solidFill>
                <a:latin typeface="Courier New"/>
              </a:rPr>
              <a:t>AS</a:t>
            </a:r>
            <a:r>
              <a:rPr sz="1050">
                <a:solidFill>
                  <a:srgbClr val="89B4FA"/>
                </a:solidFill>
                <a:latin typeface="Courier New"/>
              </a:rPr>
              <a:t> HERO</a:t>
            </a:r>
            <a:r>
              <a:rPr sz="1050">
                <a:solidFill>
                  <a:srgbClr val="E8DCC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50">
                <a:solidFill>
                  <a:srgbClr val="E8DCC8"/>
                </a:solidFill>
                <a:latin typeface="Courier New"/>
              </a:rPr>
              <a:t> rem3 </a:t>
            </a:r>
            <a:r>
              <a:rPr sz="1050">
                <a:solidFill>
                  <a:srgbClr val="F5C842"/>
                </a:solidFill>
                <a:latin typeface="Courier New"/>
              </a:rPr>
              <a:t>AS</a:t>
            </a:r>
            <a:r>
              <a:rPr sz="1050">
                <a:solidFill>
                  <a:srgbClr val="89B4FA"/>
                </a:solidFill>
                <a:latin typeface="Courier New"/>
              </a:rPr>
              <a:t> HERO</a:t>
            </a:r>
            <a:r>
              <a:rPr sz="1050">
                <a:solidFill>
                  <a:srgbClr val="E8DCC8"/>
                </a:solidFill>
                <a:latin typeface="Courier New"/>
              </a:rPr>
              <a:t> = n % </a:t>
            </a:r>
            <a:r>
              <a:rPr sz="1050">
                <a:solidFill>
                  <a:srgbClr val="FAB387"/>
                </a:solidFill>
                <a:latin typeface="Courier New"/>
              </a:rPr>
              <a:t>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1050">
                <a:solidFill>
                  <a:srgbClr val="E8DCC8"/>
                </a:solidFill>
                <a:latin typeface="Courier New"/>
              </a:rPr>
              <a:t> rem5 </a:t>
            </a:r>
            <a:r>
              <a:rPr sz="1050">
                <a:solidFill>
                  <a:srgbClr val="F5C842"/>
                </a:solidFill>
                <a:latin typeface="Courier New"/>
              </a:rPr>
              <a:t>AS</a:t>
            </a:r>
            <a:r>
              <a:rPr sz="1050">
                <a:solidFill>
                  <a:srgbClr val="89B4FA"/>
                </a:solidFill>
                <a:latin typeface="Courier New"/>
              </a:rPr>
              <a:t> HERO</a:t>
            </a:r>
            <a:r>
              <a:rPr sz="1050">
                <a:solidFill>
                  <a:srgbClr val="E8DCC8"/>
                </a:solidFill>
                <a:latin typeface="Courier New"/>
              </a:rPr>
              <a:t> = n % </a:t>
            </a:r>
            <a:r>
              <a:rPr sz="1050">
                <a:solidFill>
                  <a:srgbClr val="FAB387"/>
                </a:solidFill>
                <a:latin typeface="Courier New"/>
              </a:rPr>
              <a:t>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MEANWHILE</a:t>
            </a:r>
            <a:r>
              <a:rPr sz="1050">
                <a:solidFill>
                  <a:srgbClr val="E8DCC8"/>
                </a:solidFill>
                <a:latin typeface="Courier New"/>
              </a:rPr>
              <a:t> rem3 == </a:t>
            </a:r>
            <a:r>
              <a:rPr sz="1050">
                <a:solidFill>
                  <a:srgbClr val="FAB387"/>
                </a:solidFill>
                <a:latin typeface="Courier New"/>
              </a:rPr>
              <a:t>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MEANWHILE</a:t>
            </a:r>
            <a:r>
              <a:rPr sz="1050">
                <a:solidFill>
                  <a:srgbClr val="E8DCC8"/>
                </a:solidFill>
                <a:latin typeface="Courier New"/>
              </a:rPr>
              <a:t> rem5 == </a:t>
            </a:r>
            <a:r>
              <a:rPr sz="1050">
                <a:solidFill>
                  <a:srgbClr val="FAB387"/>
                </a:solidFill>
                <a:latin typeface="Courier New"/>
              </a:rPr>
              <a:t>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  SAYS</a:t>
            </a:r>
            <a:r>
              <a:rPr sz="1050">
                <a:solidFill>
                  <a:srgbClr val="7ECF8E"/>
                </a:solidFill>
                <a:latin typeface="Courier New"/>
              </a:rPr>
              <a:t> "FizzBuzz"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OTHERWISE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  SAYS</a:t>
            </a:r>
            <a:r>
              <a:rPr sz="1050">
                <a:solidFill>
                  <a:srgbClr val="7ECF8E"/>
                </a:solidFill>
                <a:latin typeface="Courier New"/>
              </a:rPr>
              <a:t> "Fizz"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OTHERWISE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MEANWHILE</a:t>
            </a:r>
            <a:r>
              <a:rPr sz="1050">
                <a:solidFill>
                  <a:srgbClr val="E8DCC8"/>
                </a:solidFill>
                <a:latin typeface="Courier New"/>
              </a:rPr>
              <a:t> rem5 == </a:t>
            </a:r>
            <a:r>
              <a:rPr sz="1050">
                <a:solidFill>
                  <a:srgbClr val="FAB387"/>
                </a:solidFill>
                <a:latin typeface="Courier New"/>
              </a:rPr>
              <a:t>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  SAYS</a:t>
            </a:r>
            <a:r>
              <a:rPr sz="1050">
                <a:solidFill>
                  <a:srgbClr val="7ECF8E"/>
                </a:solidFill>
                <a:latin typeface="Courier New"/>
              </a:rPr>
              <a:t> "Buzz"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OTHERWISE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  SAYS</a:t>
            </a:r>
            <a:r>
              <a:rPr sz="1050">
                <a:solidFill>
                  <a:srgbClr val="E8DCC8"/>
                </a:solidFill>
                <a:latin typeface="Courier New"/>
              </a:rPr>
              <a:t> 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DIRECTOR'S CUT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SAYS</a:t>
            </a:r>
            <a:r>
              <a:rPr sz="1050">
                <a:solidFill>
                  <a:srgbClr val="7ECF8E"/>
                </a:solidFill>
                <a:latin typeface="Courier New"/>
              </a:rPr>
              <a:t> "=== FizzBuzz: 1 to 30 ==="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MONTAGE</a:t>
            </a:r>
            <a:r>
              <a:rPr sz="1050">
                <a:solidFill>
                  <a:srgbClr val="E8DCC8"/>
                </a:solidFill>
                <a:latin typeface="Courier New"/>
              </a:rPr>
              <a:t> i </a:t>
            </a:r>
            <a:r>
              <a:rPr sz="1050">
                <a:solidFill>
                  <a:srgbClr val="F5C842"/>
                </a:solidFill>
                <a:latin typeface="Courier New"/>
              </a:rPr>
              <a:t>FROM</a:t>
            </a:r>
            <a:r>
              <a:rPr sz="1050">
                <a:solidFill>
                  <a:srgbClr val="E8DCC8"/>
                </a:solidFill>
                <a:latin typeface="Courier New"/>
              </a:rPr>
              <a:t> 1 </a:t>
            </a:r>
            <a:r>
              <a:rPr sz="1050">
                <a:solidFill>
                  <a:srgbClr val="F5C842"/>
                </a:solidFill>
                <a:latin typeface="Courier New"/>
              </a:rPr>
              <a:t>TO</a:t>
            </a:r>
            <a:r>
              <a:rPr sz="1050">
                <a:solidFill>
                  <a:srgbClr val="E8DCC8"/>
                </a:solidFill>
                <a:latin typeface="Courier New"/>
              </a:rPr>
              <a:t> limit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  CUT TO</a:t>
            </a:r>
            <a:r>
              <a:rPr sz="1050">
                <a:solidFill>
                  <a:srgbClr val="E8DCC8"/>
                </a:solidFill>
                <a:latin typeface="Courier New"/>
              </a:rPr>
              <a:t> CheckFizzBuzz(i)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  END MONTAGE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5C842"/>
                </a:solidFill>
                <a:latin typeface="Courier New"/>
              </a:rPr>
              <a:t>FADE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669280" cy="3931920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$ python3 interpreter.py fizzbuzz.scp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=== FizzBuzz: 1 to 30 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Buzz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Buzz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11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13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14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FizzBuzz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17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19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Buzz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23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Buzz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28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29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FizzBuzz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=== Scene. ===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4406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800">
                <a:solidFill>
                  <a:srgbClr val="F5C842"/>
                </a:solidFill>
                <a:latin typeface="Raleway"/>
              </a:rPr>
              <a:t>▶  </a:t>
            </a:r>
            <a:r>
              <a:rPr sz="1100">
                <a:solidFill>
                  <a:srgbClr val="E8DCC8"/>
                </a:solidFill>
                <a:latin typeface="Raleway"/>
              </a:rPr>
              <a:t>Nested MEANWHILE/OTHERWISE handles all 3 cases: divisible by both, by 3, by 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800">
                <a:solidFill>
                  <a:srgbClr val="F5C842"/>
                </a:solidFill>
                <a:latin typeface="Raleway"/>
              </a:rPr>
              <a:t>▶  </a:t>
            </a:r>
            <a:r>
              <a:rPr sz="1100">
                <a:solidFill>
                  <a:srgbClr val="E8DCC8"/>
                </a:solidFill>
                <a:latin typeface="Raleway"/>
              </a:rPr>
              <a:t>MONTAGE calls CheckFizzBuzz 30 times — one scene call per iteration.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5C842"/>
                </a:solidFill>
                <a:latin typeface="Courier New"/>
              </a:rPr>
              <a:t>Complex Program — The Grand Cinema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6126480" cy="5212080"/>
          </a:xfrm>
          <a:prstGeom prst="rect">
            <a:avLst/>
          </a:prstGeom>
          <a:solidFill>
            <a:srgbClr val="14141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OPENING CREDITS</a:t>
            </a:r>
            <a:r>
              <a:rPr sz="950">
                <a:solidFill>
                  <a:srgbClr val="555555"/>
                </a:solidFill>
                <a:latin typeface="Courier New"/>
              </a:rPr>
              <a:t>  # global accumulators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8DCC8"/>
                </a:solidFill>
                <a:latin typeface="Courier New"/>
              </a:rPr>
              <a:t>  total_revenue = total_screenings = highest_revenue = </a:t>
            </a:r>
            <a:r>
              <a:rPr sz="950">
                <a:solidFill>
                  <a:srgbClr val="FAB387"/>
                </a:solidFill>
                <a:latin typeface="Courier New"/>
              </a:rPr>
              <a:t>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SCENE:</a:t>
            </a:r>
            <a:r>
              <a:rPr sz="950">
                <a:solidFill>
                  <a:srgbClr val="E8DCC8"/>
                </a:solidFill>
                <a:latin typeface="Courier New"/>
              </a:rPr>
              <a:t> CalcRevenue (</a:t>
            </a:r>
            <a:r>
              <a:rPr sz="950">
                <a:solidFill>
                  <a:srgbClr val="F5C842"/>
                </a:solidFill>
                <a:latin typeface="Courier New"/>
              </a:rPr>
              <a:t>CAST:</a:t>
            </a:r>
            <a:r>
              <a:rPr sz="950">
                <a:solidFill>
                  <a:srgbClr val="E8DCC8"/>
                </a:solidFill>
                <a:latin typeface="Courier New"/>
              </a:rPr>
              <a:t> tickets, price </a:t>
            </a:r>
            <a:r>
              <a:rPr sz="950">
                <a:solidFill>
                  <a:srgbClr val="F5C842"/>
                </a:solidFill>
                <a:latin typeface="Courier New"/>
              </a:rPr>
              <a:t>AS</a:t>
            </a:r>
            <a:r>
              <a:rPr sz="950">
                <a:solidFill>
                  <a:srgbClr val="89B4FA"/>
                </a:solidFill>
                <a:latin typeface="Courier New"/>
              </a:rPr>
              <a:t> HERO</a:t>
            </a:r>
            <a:r>
              <a:rPr sz="950">
                <a:solidFill>
                  <a:srgbClr val="E8DCC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CHARACTER</a:t>
            </a:r>
            <a:r>
              <a:rPr sz="950">
                <a:solidFill>
                  <a:srgbClr val="E8DCC8"/>
                </a:solidFill>
                <a:latin typeface="Courier New"/>
              </a:rPr>
              <a:t> revenue </a:t>
            </a:r>
            <a:r>
              <a:rPr sz="950">
                <a:solidFill>
                  <a:srgbClr val="F5C842"/>
                </a:solidFill>
                <a:latin typeface="Courier New"/>
              </a:rPr>
              <a:t>AS</a:t>
            </a:r>
            <a:r>
              <a:rPr sz="950">
                <a:solidFill>
                  <a:srgbClr val="89B4FA"/>
                </a:solidFill>
                <a:latin typeface="Courier New"/>
              </a:rPr>
              <a:t> HERO</a:t>
            </a:r>
            <a:r>
              <a:rPr sz="950">
                <a:solidFill>
                  <a:srgbClr val="E8DCC8"/>
                </a:solidFill>
                <a:latin typeface="Courier New"/>
              </a:rPr>
              <a:t> = tickets * price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RETURN</a:t>
            </a:r>
            <a:r>
              <a:rPr sz="950">
                <a:solidFill>
                  <a:srgbClr val="E8DCC8"/>
                </a:solidFill>
                <a:latin typeface="Courier New"/>
              </a:rPr>
              <a:t> revenue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SCENE:</a:t>
            </a:r>
            <a:r>
              <a:rPr sz="950">
                <a:solidFill>
                  <a:srgbClr val="E8DCC8"/>
                </a:solidFill>
                <a:latin typeface="Courier New"/>
              </a:rPr>
              <a:t> GetVerdict (</a:t>
            </a:r>
            <a:r>
              <a:rPr sz="950">
                <a:solidFill>
                  <a:srgbClr val="F5C842"/>
                </a:solidFill>
                <a:latin typeface="Courier New"/>
              </a:rPr>
              <a:t>CAST:</a:t>
            </a:r>
            <a:r>
              <a:rPr sz="950">
                <a:solidFill>
                  <a:srgbClr val="E8DCC8"/>
                </a:solidFill>
                <a:latin typeface="Courier New"/>
              </a:rPr>
              <a:t> revenue </a:t>
            </a:r>
            <a:r>
              <a:rPr sz="950">
                <a:solidFill>
                  <a:srgbClr val="F5C842"/>
                </a:solidFill>
                <a:latin typeface="Courier New"/>
              </a:rPr>
              <a:t>AS</a:t>
            </a:r>
            <a:r>
              <a:rPr sz="950">
                <a:solidFill>
                  <a:srgbClr val="89B4FA"/>
                </a:solidFill>
                <a:latin typeface="Courier New"/>
              </a:rPr>
              <a:t> HERO</a:t>
            </a:r>
            <a:r>
              <a:rPr sz="950">
                <a:solidFill>
                  <a:srgbClr val="E8DCC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MEANWHILE</a:t>
            </a:r>
            <a:r>
              <a:rPr sz="950">
                <a:solidFill>
                  <a:srgbClr val="E8DCC8"/>
                </a:solidFill>
                <a:latin typeface="Courier New"/>
              </a:rPr>
              <a:t> revenue &gt;= </a:t>
            </a:r>
            <a:r>
              <a:rPr sz="950">
                <a:solidFill>
                  <a:srgbClr val="FAB387"/>
                </a:solidFill>
                <a:latin typeface="Courier New"/>
              </a:rPr>
              <a:t>8000</a:t>
            </a:r>
            <a:r>
              <a:rPr sz="950">
                <a:solidFill>
                  <a:srgbClr val="E8DCC8"/>
                </a:solidFill>
                <a:latin typeface="Courier New"/>
              </a:rPr>
              <a:t>   </a:t>
            </a:r>
            <a:r>
              <a:rPr sz="950">
                <a:solidFill>
                  <a:srgbClr val="F5C842"/>
                </a:solidFill>
                <a:latin typeface="Courier New"/>
              </a:rPr>
              <a:t>SAYS</a:t>
            </a:r>
            <a:r>
              <a:rPr sz="950">
                <a:solidFill>
                  <a:srgbClr val="7ECF8E"/>
                </a:solidFill>
                <a:latin typeface="Courier New"/>
              </a:rPr>
              <a:t> "BLOCKBUSTER HIT"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OTHERWISE  MEANWHILE</a:t>
            </a:r>
            <a:r>
              <a:rPr sz="950">
                <a:solidFill>
                  <a:srgbClr val="E8DCC8"/>
                </a:solidFill>
                <a:latin typeface="Courier New"/>
              </a:rPr>
              <a:t> revenue &gt;= </a:t>
            </a:r>
            <a:r>
              <a:rPr sz="950">
                <a:solidFill>
                  <a:srgbClr val="FAB387"/>
                </a:solidFill>
                <a:latin typeface="Courier New"/>
              </a:rPr>
              <a:t>4000</a:t>
            </a:r>
            <a:r>
              <a:rPr sz="950">
                <a:solidFill>
                  <a:srgbClr val="E8DCC8"/>
                </a:solidFill>
                <a:latin typeface="Courier New"/>
              </a:rPr>
              <a:t>  </a:t>
            </a:r>
            <a:r>
              <a:rPr sz="950">
                <a:solidFill>
                  <a:srgbClr val="F5C842"/>
                </a:solidFill>
                <a:latin typeface="Courier New"/>
              </a:rPr>
              <a:t>SAYS</a:t>
            </a:r>
            <a:r>
              <a:rPr sz="950">
                <a:solidFill>
                  <a:srgbClr val="7ECF8E"/>
                </a:solidFill>
                <a:latin typeface="Courier New"/>
              </a:rPr>
              <a:t> "Solid Performer"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OTHERWISE  MEANWHILE</a:t>
            </a:r>
            <a:r>
              <a:rPr sz="950">
                <a:solidFill>
                  <a:srgbClr val="E8DCC8"/>
                </a:solidFill>
                <a:latin typeface="Courier New"/>
              </a:rPr>
              <a:t> revenue &gt;= </a:t>
            </a:r>
            <a:r>
              <a:rPr sz="950">
                <a:solidFill>
                  <a:srgbClr val="FAB387"/>
                </a:solidFill>
                <a:latin typeface="Courier New"/>
              </a:rPr>
              <a:t>1500</a:t>
            </a:r>
            <a:r>
              <a:rPr sz="950">
                <a:solidFill>
                  <a:srgbClr val="E8DCC8"/>
                </a:solidFill>
                <a:latin typeface="Courier New"/>
              </a:rPr>
              <a:t>  </a:t>
            </a:r>
            <a:r>
              <a:rPr sz="950">
                <a:solidFill>
                  <a:srgbClr val="F5C842"/>
                </a:solidFill>
                <a:latin typeface="Courier New"/>
              </a:rPr>
              <a:t>SAYS</a:t>
            </a:r>
            <a:r>
              <a:rPr sz="950">
                <a:solidFill>
                  <a:srgbClr val="7ECF8E"/>
                </a:solidFill>
                <a:latin typeface="Courier New"/>
              </a:rPr>
              <a:t> "Limited Success"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8DCC8"/>
                </a:solidFill>
                <a:latin typeface="Courier New"/>
              </a:rPr>
              <a:t>  OTHERWISE  </a:t>
            </a:r>
            <a:r>
              <a:rPr sz="950">
                <a:solidFill>
                  <a:srgbClr val="F5C842"/>
                </a:solidFill>
                <a:latin typeface="Courier New"/>
              </a:rPr>
              <a:t>SAYS</a:t>
            </a:r>
            <a:r>
              <a:rPr sz="950">
                <a:solidFill>
                  <a:srgbClr val="7ECF8E"/>
                </a:solidFill>
                <a:latin typeface="Courier New"/>
              </a:rPr>
              <a:t> "Box Office Flop"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SCENE:</a:t>
            </a:r>
            <a:r>
              <a:rPr sz="950">
                <a:solidFill>
                  <a:srgbClr val="E8DCC8"/>
                </a:solidFill>
                <a:latin typeface="Courier New"/>
              </a:rPr>
              <a:t> SafeScreening (</a:t>
            </a:r>
            <a:r>
              <a:rPr sz="950">
                <a:solidFill>
                  <a:srgbClr val="F5C842"/>
                </a:solidFill>
                <a:latin typeface="Courier New"/>
              </a:rPr>
              <a:t>CAST:</a:t>
            </a:r>
            <a:r>
              <a:rPr sz="950">
                <a:solidFill>
                  <a:srgbClr val="E8DCC8"/>
                </a:solidFill>
                <a:latin typeface="Courier New"/>
              </a:rPr>
              <a:t> num, tickets, price </a:t>
            </a:r>
            <a:r>
              <a:rPr sz="950">
                <a:solidFill>
                  <a:srgbClr val="F5C842"/>
                </a:solidFill>
                <a:latin typeface="Courier New"/>
              </a:rPr>
              <a:t>AS</a:t>
            </a:r>
            <a:r>
              <a:rPr sz="950">
                <a:solidFill>
                  <a:srgbClr val="89B4FA"/>
                </a:solidFill>
                <a:latin typeface="Courier New"/>
              </a:rPr>
              <a:t> HERO</a:t>
            </a:r>
            <a:r>
              <a:rPr sz="950">
                <a:solidFill>
                  <a:srgbClr val="E8DCC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PLOT TWIST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  CUT TO</a:t>
            </a:r>
            <a:r>
              <a:rPr sz="950">
                <a:solidFill>
                  <a:srgbClr val="E8DCC8"/>
                </a:solidFill>
                <a:latin typeface="Courier New"/>
              </a:rPr>
              <a:t> ReportScreening(num, tickets, price)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OTHERWISE</a:t>
            </a:r>
            <a:r>
              <a:rPr sz="950">
                <a:solidFill>
                  <a:srgbClr val="F5C842"/>
                </a:solidFill>
                <a:latin typeface="Courier New"/>
              </a:rPr>
              <a:t>   SAYS</a:t>
            </a:r>
            <a:r>
              <a:rPr sz="950">
                <a:solidFill>
                  <a:srgbClr val="7ECF8E"/>
                </a:solidFill>
                <a:latin typeface="Courier New"/>
              </a:rPr>
              <a:t> "[ERROR] Screening failed"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8DCC8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DIRECTOR'S CUT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  CUT TO</a:t>
            </a:r>
            <a:r>
              <a:rPr sz="950">
                <a:solidFill>
                  <a:srgbClr val="E8DCC8"/>
                </a:solidFill>
                <a:latin typeface="Courier New"/>
              </a:rPr>
              <a:t> SafeScreening(</a:t>
            </a:r>
            <a:r>
              <a:rPr sz="950">
                <a:solidFill>
                  <a:srgbClr val="FAB387"/>
                </a:solidFill>
                <a:latin typeface="Courier New"/>
              </a:rPr>
              <a:t>1</a:t>
            </a:r>
            <a:r>
              <a:rPr sz="950">
                <a:solidFill>
                  <a:srgbClr val="E8DCC8"/>
                </a:solidFill>
                <a:latin typeface="Courier New"/>
              </a:rPr>
              <a:t>, </a:t>
            </a:r>
            <a:r>
              <a:rPr sz="950">
                <a:solidFill>
                  <a:srgbClr val="FAB387"/>
                </a:solidFill>
                <a:latin typeface="Courier New"/>
              </a:rPr>
              <a:t>320</a:t>
            </a:r>
            <a:r>
              <a:rPr sz="950">
                <a:solidFill>
                  <a:srgbClr val="E8DCC8"/>
                </a:solidFill>
                <a:latin typeface="Courier New"/>
              </a:rPr>
              <a:t>, </a:t>
            </a:r>
            <a:r>
              <a:rPr sz="950">
                <a:solidFill>
                  <a:srgbClr val="FAB387"/>
                </a:solidFill>
                <a:latin typeface="Courier New"/>
              </a:rPr>
              <a:t>18</a:t>
            </a:r>
            <a:r>
              <a:rPr sz="950">
                <a:solidFill>
                  <a:srgbClr val="555555"/>
                </a:solidFill>
                <a:latin typeface="Courier New"/>
              </a:rPr>
              <a:t>)  ... 5 screenings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371600"/>
            <a:ext cx="5212080" cy="3566160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5C842"/>
                </a:solidFill>
                <a:latin typeface="Courier New"/>
              </a:rPr>
              <a:t>$ python3 interpreter.py cinema_report.scp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=========================================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 OPENING WEEKEND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=========================================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Screening #1  Revenue: $5760   Verdict: Solid Performer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Screening #2  Revenue: $7650   Verdict: Solid Performer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Screening #3  Revenue: $2090   Verdict: Limited Success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Screening #4  Revenue: $8960   Verdict: BLOCKBUSTER HIT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Screening #5  Revenue: $4200   Verdict: Solid Performer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=========================================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 FINAL SUMMARY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=========================================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Total Screenings: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Total Revenue:    $28660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Best Screening:   $8960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B0A898"/>
                </a:solidFill>
                <a:latin typeface="Courier New"/>
              </a:rPr>
              <a:t>  VERDICT: GREENLIGHT THE SEQUEL!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507492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750">
                <a:solidFill>
                  <a:srgbClr val="F5C842"/>
                </a:solidFill>
                <a:latin typeface="Raleway"/>
              </a:rPr>
              <a:t>▶  </a:t>
            </a:r>
            <a:r>
              <a:rPr sz="1050">
                <a:solidFill>
                  <a:srgbClr val="E8DCC8"/>
                </a:solidFill>
                <a:latin typeface="Raleway"/>
              </a:rPr>
              <a:t>5 scenes: CalcRevenue (returns value), GetVerdict (4-tier), TrackHighest, ReportScreening, SafeScreening.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750">
                <a:solidFill>
                  <a:srgbClr val="F5C842"/>
                </a:solidFill>
                <a:latin typeface="Raleway"/>
              </a:rPr>
              <a:t>▶  </a:t>
            </a:r>
            <a:r>
              <a:rPr sz="1050">
                <a:solidFill>
                  <a:srgbClr val="E8DCC8"/>
                </a:solidFill>
                <a:latin typeface="Raleway"/>
              </a:rPr>
              <a:t>PLOT TWIST wraps each screening call in try/catch error handling.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750">
                <a:solidFill>
                  <a:srgbClr val="F5C842"/>
                </a:solidFill>
                <a:latin typeface="Raleway"/>
              </a:rPr>
              <a:t>▶  </a:t>
            </a:r>
            <a:r>
              <a:rPr sz="1050">
                <a:solidFill>
                  <a:srgbClr val="E8DCC8"/>
                </a:solidFill>
                <a:latin typeface="Raleway"/>
              </a:rPr>
              <a:t>Global state (total_revenue, highest_revenue) accumulates across all scene calls.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5C842"/>
                </a:solidFill>
                <a:latin typeface="Courier New"/>
              </a:rPr>
              <a:t>Interpreter — Running 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hello_world.scp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27632"/>
            <a:ext cx="2788920" cy="1847088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F5C842"/>
                </a:solidFill>
                <a:latin typeface="Courier New"/>
              </a:rPr>
              <a:t>$ python3 interpreter.py hello_world.scp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lead: "Hello World!"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FADE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688" y="13716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math.scp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627632"/>
            <a:ext cx="2788920" cy="1847088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F5C842"/>
                </a:solidFill>
                <a:latin typeface="Courier New"/>
              </a:rPr>
              <a:t>$ python3 interpreter.py math.scp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Sum: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total: "15"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Difference: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diff: "5"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FADE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3056" y="13716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greeting.scp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627632"/>
            <a:ext cx="2788920" cy="1847088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F5C842"/>
                </a:solidFill>
                <a:latin typeface="Courier New"/>
              </a:rPr>
              <a:t>$ python3 interpreter.py greeting.scp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Welcome to the show,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name: "Alice"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FADE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7424" y="13716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countdown.scp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07424" y="1627632"/>
            <a:ext cx="2788920" cy="1847088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F5C842"/>
                </a:solidFill>
                <a:latin typeface="Courier New"/>
              </a:rPr>
              <a:t>$ python3 interpreter.py countdown.scp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10  9  8  7  6  5  4  3  2  1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!! We have liftoff! !!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FADE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audition.scp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13632"/>
            <a:ext cx="2788920" cy="1847088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F5C842"/>
                </a:solidFill>
                <a:latin typeface="Courier New"/>
              </a:rPr>
              <a:t>$ python3 interpreter.py audition.scp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You got the part.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FADE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6576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fizzbuzz.scp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3913632"/>
            <a:ext cx="2788920" cy="1847088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F5C842"/>
                </a:solidFill>
                <a:latin typeface="Courier New"/>
              </a:rPr>
              <a:t>$ python3 interpreter.py fizzbuzz.scp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1  2  Fizz  4  Buzz  Fizz  7  8  Fizz  Buzz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11  Fizz  13  14  FizzBuzz  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=== Scene. 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FADE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36576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cinema_report.scp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3913632"/>
            <a:ext cx="2788920" cy="1847088"/>
          </a:xfrm>
          <a:prstGeom prst="rect">
            <a:avLst/>
          </a:prstGeom>
          <a:solidFill>
            <a:srgbClr val="080808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F5C842"/>
                </a:solidFill>
                <a:latin typeface="Courier New"/>
              </a:rPr>
              <a:t>$ python3 interpreter.py cinema_report.scp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Screening #1: $5760 — Solid Performer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Screening #4: $8960 — BLOCKBUSTER HIT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Total Revenue: $28660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B0A898"/>
                </a:solidFill>
                <a:latin typeface="Courier New"/>
              </a:rPr>
              <a:t>  VERDICT: GREENLIGHT THE SEQUEL!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2103120"/>
            <a:ext cx="1216152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5C842"/>
                </a:solidFill>
                <a:latin typeface="Courier New"/>
              </a:rPr>
              <a:t>FADE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77639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A8E7E"/>
                </a:solidFill>
                <a:latin typeface="Raleway"/>
              </a:rPr>
              <a:t>Scriptor  —  CS 420 Final Project  —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ourier New"/>
              </a:rPr>
              <a:t>interpreter.py   ·   7 programs   ·   github.com/Markgugg/dom-final-movie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5029200"/>
            <a:ext cx="1216152" cy="127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